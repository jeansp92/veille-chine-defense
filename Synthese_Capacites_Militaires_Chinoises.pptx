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9E1B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2008</c:v>
                  </c:pt>
                  <c:pt idx="1">
                    <c:v>2017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82.5</c:v>
                </c:pt>
                <c:pt idx="1">
                  <c:v>151</c:v>
                </c:pt>
                <c:pt idx="2">
                  <c:v>340.8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F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5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Effectifs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E1B32"/>
              </a:solidFill>
              <a:effectLst/>
            </c:spPr>
          </c:dPt>
          <c:dPt>
            <c:idx val="1"/>
            <c:bubble3D val="0"/>
            <c:spPr>
              <a:solidFill>
                <a:srgbClr val="6E1F2E"/>
              </a:solidFill>
              <a:effectLst/>
            </c:spPr>
          </c:dPt>
          <c:dPt>
            <c:idx val="2"/>
            <c:bubble3D val="0"/>
            <c:spPr>
              <a:solidFill>
                <a:srgbClr val="C9A227"/>
              </a:solidFill>
              <a:effectLst/>
            </c:spPr>
          </c:dPt>
          <c:dPt>
            <c:idx val="3"/>
            <c:bubble3D val="0"/>
            <c:spPr>
              <a:solidFill>
                <a:srgbClr val="8A93A3"/>
              </a:solidFill>
              <a:effectLst/>
            </c:spPr>
          </c:dPt>
          <c:dPt>
            <c:idx val="4"/>
            <c:bubble3D val="0"/>
            <c:spPr>
              <a:solidFill>
                <a:srgbClr val="1B1F2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Armée de Terre</c:v>
                </c:pt>
                <c:pt idx="1">
                  <c:v>Marine</c:v>
                </c:pt>
                <c:pt idx="2">
                  <c:v>Force aérienne</c:v>
                </c:pt>
                <c:pt idx="3">
                  <c:v>Force des Roquettes</c:v>
                </c:pt>
                <c:pt idx="4">
                  <c:v>Autres / cyber-espace-info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950</c:v>
                </c:pt>
                <c:pt idx="1">
                  <c:v>262</c:v>
                </c:pt>
                <c:pt idx="2">
                  <c:v>403</c:v>
                </c:pt>
                <c:pt idx="3">
                  <c:v>125</c:v>
                </c:pt>
                <c:pt idx="4">
                  <c:v>295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5F6F7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Chasseurs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J-10 (multirôle)</c:v>
                  </c:pt>
                  <c:pt idx="1">
                    <c:v>J-16 / Flanker lourd</c:v>
                  </c:pt>
                  <c:pt idx="2">
                    <c:v>J-20 (furtif)</c:v>
                  </c:pt>
                  <c:pt idx="3">
                    <c:v>J-35A (furtif, nouveau)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618</c:v>
                </c:pt>
                <c:pt idx="1">
                  <c:v>427</c:v>
                </c:pt>
                <c:pt idx="2">
                  <c:v>300</c:v>
                </c:pt>
                <c:pt idx="3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1F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5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ICBM</c:v>
                </c:pt>
              </c:strCache>
            </c:strRef>
          </c:tx>
          <c:spPr>
            <a:solidFill>
              <a:srgbClr val="9E1B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DF-5A/B/C</c:v>
                  </c:pt>
                  <c:pt idx="1">
                    <c:v>DF-31A/(G)</c:v>
                  </c:pt>
                  <c:pt idx="2">
                    <c:v>DF-31BJ (silo)</c:v>
                  </c:pt>
                  <c:pt idx="3">
                    <c:v>DF-41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80</c:v>
                </c:pt>
                <c:pt idx="2">
                  <c:v>150</c:v>
                </c:pt>
                <c:pt idx="3">
                  <c:v>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7CCD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A41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7CCD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B1F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F27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-2286000"/>
            <a:ext cx="7315200" cy="7315200"/>
          </a:xfrm>
          <a:prstGeom prst="ellipse">
            <a:avLst/>
          </a:prstGeom>
          <a:solidFill>
            <a:srgbClr val="232935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0" y="-1097280"/>
            <a:ext cx="4572000" cy="45720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9E1B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5" y="747065"/>
            <a:ext cx="608990" cy="6089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691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ANALYTIQUE — RENS MIL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205740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Capacités militaires de la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République populaire de Chine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48640" y="39776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Structuration des forces • Base industrielle et technologique de défense • Objectifs stratégiques • Rayonnement international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66928" y="4617720"/>
            <a:ext cx="29260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5989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de synthèse — Juillet 2026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IISS, The Military Balance 2026 ; sources ouvertes complémentaires (OSINT)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810512"/>
            <a:ext cx="658368" cy="658368"/>
          </a:xfrm>
          <a:prstGeom prst="ellipse">
            <a:avLst/>
          </a:prstGeom>
          <a:solidFill>
            <a:srgbClr val="9E1B3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828" y="1896100"/>
            <a:ext cx="487192" cy="4871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691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645920" y="20574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stratégique et budgétaire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09360" y="155448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37960" y="1810512"/>
            <a:ext cx="658368" cy="658368"/>
          </a:xfrm>
          <a:prstGeom prst="ellipse">
            <a:avLst/>
          </a:prstGeom>
          <a:solidFill>
            <a:srgbClr val="9E1B3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3548" y="1896100"/>
            <a:ext cx="487192" cy="4871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06640" y="1691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7406640" y="20574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 forces armées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297180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77240" y="3227832"/>
            <a:ext cx="658368" cy="658368"/>
          </a:xfrm>
          <a:prstGeom prst="ellipse">
            <a:avLst/>
          </a:prstGeom>
          <a:solidFill>
            <a:srgbClr val="9E1B3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28" y="3313420"/>
            <a:ext cx="487192" cy="4871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45920" y="31089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1645920" y="34747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Capacités par composante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309360" y="297180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537960" y="3227832"/>
            <a:ext cx="658368" cy="658368"/>
          </a:xfrm>
          <a:prstGeom prst="ellipse">
            <a:avLst/>
          </a:prstGeom>
          <a:solidFill>
            <a:srgbClr val="9E1B3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3548" y="3313420"/>
            <a:ext cx="487192" cy="48719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06640" y="31089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7406640" y="34747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industrielle et technologique de défense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548640" y="438912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77240" y="4645152"/>
            <a:ext cx="658368" cy="658368"/>
          </a:xfrm>
          <a:prstGeom prst="ellipse">
            <a:avLst/>
          </a:prstGeom>
          <a:solidFill>
            <a:srgbClr val="9E1B32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828" y="4730740"/>
            <a:ext cx="487192" cy="48719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645920" y="45262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0"/>
          <p:cNvSpPr/>
          <p:nvPr/>
        </p:nvSpPr>
        <p:spPr>
          <a:xfrm>
            <a:off x="1645920" y="48920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tactiques et stratégiques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6309360" y="438912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37960" y="4645152"/>
            <a:ext cx="658368" cy="658368"/>
          </a:xfrm>
          <a:prstGeom prst="ellipse">
            <a:avLst/>
          </a:prstGeom>
          <a:solidFill>
            <a:srgbClr val="9E1B32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3548" y="4730740"/>
            <a:ext cx="487192" cy="48719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406640" y="45262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24"/>
          <p:cNvSpPr/>
          <p:nvPr/>
        </p:nvSpPr>
        <p:spPr>
          <a:xfrm>
            <a:off x="7406640" y="48920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Rayonnement international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Capacités militaires de la RPC — Synthèse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000232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stratégique et budgétaire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trajectoire de long terme, structurée par trois échéances calendaires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de défense (estimation élargie, USD Md)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83080"/>
          <a:ext cx="55778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029200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Dépense totale compatible méthodologie OTAN (R&amp;D, achats étrangers, police armée incluse) ; 1,8% du PIB en 2025, contre 3,5% visé par l'OTAN en 2035.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92240" y="1417320"/>
            <a:ext cx="5120640" cy="1170432"/>
          </a:xfrm>
          <a:prstGeom prst="roundRect">
            <a:avLst>
              <a:gd name="adj" fmla="val 6250"/>
            </a:avLst>
          </a:prstGeom>
          <a:solidFill>
            <a:srgbClr val="1B1F27"/>
          </a:solidFill>
          <a:ln/>
        </p:spPr>
      </p:sp>
      <p:sp>
        <p:nvSpPr>
          <p:cNvPr id="8" name="Text 5"/>
          <p:cNvSpPr/>
          <p:nvPr/>
        </p:nvSpPr>
        <p:spPr>
          <a:xfrm>
            <a:off x="6720840" y="152704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863840" y="15270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Centenaire de l'APL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863840" y="1837944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 à fournir des options militaires crédibles vis-à-vis de Taïwan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92240" y="2770632"/>
            <a:ext cx="5120640" cy="1170432"/>
          </a:xfrm>
          <a:prstGeom prst="roundRect">
            <a:avLst>
              <a:gd name="adj" fmla="val 6250"/>
            </a:avLst>
          </a:prstGeom>
          <a:solidFill>
            <a:srgbClr val="1B1F27"/>
          </a:solidFill>
          <a:ln/>
        </p:spPr>
      </p:sp>
      <p:sp>
        <p:nvSpPr>
          <p:cNvPr id="12" name="Text 9"/>
          <p:cNvSpPr/>
          <p:nvPr/>
        </p:nvSpPr>
        <p:spPr>
          <a:xfrm>
            <a:off x="6720840" y="2880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2035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86384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Modernisation de la défense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863840" y="3191256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Parité technologique visée avec les forces occidentales de premier rang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492240" y="4123944"/>
            <a:ext cx="5120640" cy="1170432"/>
          </a:xfrm>
          <a:prstGeom prst="roundRect">
            <a:avLst>
              <a:gd name="adj" fmla="val 6250"/>
            </a:avLst>
          </a:prstGeom>
          <a:solidFill>
            <a:srgbClr val="1B1F27"/>
          </a:solidFill>
          <a:ln/>
        </p:spPr>
      </p:sp>
      <p:sp>
        <p:nvSpPr>
          <p:cNvPr id="16" name="Text 13"/>
          <p:cNvSpPr/>
          <p:nvPr/>
        </p:nvSpPr>
        <p:spPr>
          <a:xfrm>
            <a:off x="6720840" y="423367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2049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7863840" y="42336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Armée de rang mondial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863840" y="454456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Centenaire de la RPC — projection de puissance globale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Capacités militaires de la RPC — Synthèse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000232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des forces armées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2 035 000 personnels d'active, répartis en quatre armées et cinq théâtres de commandement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49377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1097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Effectifs par composante (milliers)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760720" y="109728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 théâtres de commandement interarmées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760720" y="1517904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5"/>
          <p:cNvSpPr/>
          <p:nvPr/>
        </p:nvSpPr>
        <p:spPr>
          <a:xfrm>
            <a:off x="6035040" y="137160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— </a:t>
            </a:r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à Taïwan — bombardiers, chasseurs modernes, brigades amphibies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760720" y="2203704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7"/>
          <p:cNvSpPr/>
          <p:nvPr/>
        </p:nvSpPr>
        <p:spPr>
          <a:xfrm>
            <a:off x="6035040" y="205740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 — </a:t>
            </a:r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 de Chine méridionale — totalité des SNLE, porte-avions, sous-marins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760720" y="2889504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9"/>
          <p:cNvSpPr/>
          <p:nvPr/>
        </p:nvSpPr>
        <p:spPr>
          <a:xfrm>
            <a:off x="6035040" y="274320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Ouest — </a:t>
            </a:r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 / Asie centrale — divisions haute altitude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760720" y="3575304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1"/>
          <p:cNvSpPr/>
          <p:nvPr/>
        </p:nvSpPr>
        <p:spPr>
          <a:xfrm>
            <a:off x="6035040" y="342900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 — </a:t>
            </a:r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Corée / Russie — tradition industrielle navale (Dalian)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760720" y="4261104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3"/>
          <p:cNvSpPr/>
          <p:nvPr/>
        </p:nvSpPr>
        <p:spPr>
          <a:xfrm>
            <a:off x="6035040" y="411480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— </a:t>
            </a:r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Réserve stratégique — garde de Pékin, Corps aéroporté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Capacités militaires de la RPC — Synthèse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000232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23293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681" y="603961"/>
            <a:ext cx="575158" cy="5751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486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Armée de Terre — de la masse à la précision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508760" y="10515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950 000 personnels — transition entre trois générations de matériel coexistantes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232935"/>
          </a:solidFill>
          <a:ln/>
        </p:spPr>
      </p:sp>
      <p:sp>
        <p:nvSpPr>
          <p:cNvPr id="7" name="Text 4"/>
          <p:cNvSpPr/>
          <p:nvPr/>
        </p:nvSpPr>
        <p:spPr>
          <a:xfrm>
            <a:off x="713232" y="1810512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4 700+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13232" y="2286000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chars de combat principal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13232" y="2606040"/>
            <a:ext cx="236829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ZTZ-96/-99, et le nouveau Type-100 (hybride, tourelle inhabitée, IA embarquée)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83280" y="169164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232935"/>
          </a:solidFill>
          <a:ln/>
        </p:spPr>
      </p:sp>
      <p:sp>
        <p:nvSpPr>
          <p:cNvPr id="11" name="Text 8"/>
          <p:cNvSpPr/>
          <p:nvPr/>
        </p:nvSpPr>
        <p:spPr>
          <a:xfrm>
            <a:off x="3547872" y="1810512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8 000+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547872" y="2286000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véhicules de combat d'infanterie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547872" y="2606040"/>
            <a:ext cx="236829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Familles ZBD/ZBL, dont la plateforme modulaire à roues 8x8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217920" y="169164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232935"/>
          </a:solidFill>
          <a:ln/>
        </p:spPr>
      </p:sp>
      <p:sp>
        <p:nvSpPr>
          <p:cNvPr id="15" name="Text 12"/>
          <p:cNvSpPr/>
          <p:nvPr/>
        </p:nvSpPr>
        <p:spPr>
          <a:xfrm>
            <a:off x="6382512" y="1810512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9 500+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382512" y="2286000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pièces d'artillerie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82512" y="2606040"/>
            <a:ext cx="236829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 le PCH-191 (370mm), frappe de précision comparable au HIMARS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052560" y="169164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232935"/>
          </a:solidFill>
          <a:ln/>
        </p:spPr>
      </p:sp>
      <p:sp>
        <p:nvSpPr>
          <p:cNvPr id="19" name="Text 16"/>
          <p:cNvSpPr/>
          <p:nvPr/>
        </p:nvSpPr>
        <p:spPr>
          <a:xfrm>
            <a:off x="9217152" y="1810512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754+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217152" y="2286000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systèmes sol-air de théâtre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217152" y="2606040"/>
            <a:ext cx="236829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HQ-16, HQ-17, complétés par le Tor-M1 russe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48640" y="3520440"/>
            <a:ext cx="11091672" cy="1965960"/>
          </a:xfrm>
          <a:prstGeom prst="roundRect">
            <a:avLst>
              <a:gd name="adj" fmla="val 3721"/>
            </a:avLst>
          </a:prstGeom>
          <a:solidFill>
            <a:srgbClr val="232935"/>
          </a:solidFill>
          <a:ln/>
        </p:spPr>
      </p:sp>
      <p:sp>
        <p:nvSpPr>
          <p:cNvPr id="23" name="Text 20"/>
          <p:cNvSpPr/>
          <p:nvPr/>
        </p:nvSpPr>
        <p:spPr>
          <a:xfrm>
            <a:off x="822960" y="3703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d'attention — le Type-100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22960" y="4069080"/>
            <a:ext cx="1054303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A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Dévoilé au défilé du 3 septembre 2025 : propulsion hybride diesel-électrique, tourelle inhabitée, canon 105mm allégé, protection active et réalité augmentée pour l'équipage. Présenté aux côtés de quatre familles de véhicules terrestres/aériens sans pilote — transition affichée de l'expérimentation vers la mise en service en série, disponibilité en nombre anticipée vers 2030.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Capacités militaires de la RPC — Synthèse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000232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Marine (PLAN) — la priorité capacitaire n°1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262 000 personnels — montée en puissance de l'aéronavale et de la projection hauturière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572768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13232" y="2057400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porte-avions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2377440"/>
            <a:ext cx="236829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Fujian (Type-003) en essais — catapultes électromagnétiques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47872" y="1572768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47872" y="2057400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sous-marins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47872" y="2377440"/>
            <a:ext cx="236829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SSBN, 9 SSN/SSGN, 46 SSK (majorité Yuan-AIP)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82512" y="1572768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382512" y="2057400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croiseurs Type-055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82512" y="2377440"/>
            <a:ext cx="236829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Parmi les combattants de surface les plus puissants au monde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52560" y="146304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17152" y="1572768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686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217152" y="2057400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navires garde-côtière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17152" y="2377440"/>
            <a:ext cx="236829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2ᵉ plus grande flotte de garde-côtes au monde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291840"/>
            <a:ext cx="11091672" cy="2194560"/>
          </a:xfrm>
          <a:prstGeom prst="roundRect">
            <a:avLst>
              <a:gd name="adj" fmla="val 3333"/>
            </a:avLst>
          </a:prstGeom>
          <a:solidFill>
            <a:srgbClr val="1B1F27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3474720"/>
            <a:ext cx="548640" cy="548640"/>
          </a:xfrm>
          <a:prstGeom prst="ellipse">
            <a:avLst/>
          </a:prstGeom>
          <a:solidFill>
            <a:srgbClr val="9E1B32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" y="3546043"/>
            <a:ext cx="405994" cy="40599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508760" y="3520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: trois développements structurants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22960" y="3931920"/>
            <a:ext cx="105430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A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simultané, pour la première fois (juin 2025), de deux groupes aéronavals au-delà de la première chaîne d'îles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A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Essais du Fujian : catapultage du J-15T, du J-35 furtif et du KJ-600 (guet aérien) — commissionnement prévu début novembre 2025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A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Circumnavigation de l'Australie par un groupe mené par un croiseur Type-055 (février 2025), tir réel en mer de Tasman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Capacités militaires de la RPC — Synthèse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000232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Force aérienne (PLAAF) — la course à la 5ᵉ génération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403 000 personnels — 2 880 aéronefs de combat, allongement du rayon d'action stratégique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57607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1143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Flotte de chasse par génération (unités)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92240" y="1463040"/>
            <a:ext cx="51206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720840" y="155448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Missiles air-air longue portée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720840" y="1847088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PL-15 (~250-300km, version domestique) et PL-17 en entrée en service — atout majeur face à l'AIM-120 américain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92240" y="2670048"/>
            <a:ext cx="51206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720840" y="276148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Ravitaillement / transport stratégique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720840" y="3054096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Y-20 (75 gros porteurs) réduit la dépendance aux importations russes ; condition de la projection au-delà de la 1ʳᵉ chaîne d'îles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92240" y="3877056"/>
            <a:ext cx="51206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720840" y="396849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J-35A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720840" y="4261104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Dérivé du FC-31, entrée en service identifiée à la base de Dalian (Théâtre Nord) — variante embarquée en essais sur le Fujian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Capacités militaires de la RPC — Synthèse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000232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F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23293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681" y="603961"/>
            <a:ext cx="575158" cy="5751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Force des Roquettes (PLARF) — expansion nucléaire documentée par OSINT satellite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508760" y="10972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298 vecteurs ICBM nucléaires recensés — rupture avec la doctrine historique de dissuasion minimale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691640"/>
          <a:ext cx="5486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des vecteurs ICBM par système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6263640" y="1691640"/>
            <a:ext cx="5394960" cy="3246120"/>
          </a:xfrm>
          <a:prstGeom prst="roundRect">
            <a:avLst>
              <a:gd name="adj" fmla="val 2254"/>
            </a:avLst>
          </a:prstGeom>
          <a:solidFill>
            <a:srgbClr val="232935"/>
          </a:solidFill>
          <a:ln/>
        </p:spPr>
      </p:sp>
      <p:sp>
        <p:nvSpPr>
          <p:cNvPr id="9" name="Text 5"/>
          <p:cNvSpPr/>
          <p:nvPr/>
        </p:nvSpPr>
        <p:spPr>
          <a:xfrm>
            <a:off x="6492240" y="1874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Nouveautés révélées au défilé du 3 septembre 2025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492240" y="2240280"/>
            <a:ext cx="49377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50" dirty="0">
                <a:solidFill>
                  <a:srgbClr val="DA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DF-61 : nouvel ICBM à planeur hypersonique (HGV), possible parenté de lanceur avec le DF-41</a:t>
            </a:r>
            <a:endParaRPr lang="en-US" sz="115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50" dirty="0">
                <a:solidFill>
                  <a:srgbClr val="DA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Absences notables : DF-27 (IRBM hypersonique) et nouveaux SRBM — signal soit de maturité insuffisante, soit de dévoilement différé</a:t>
            </a:r>
            <a:endParaRPr lang="en-US" sz="115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50" dirty="0">
                <a:solidFill>
                  <a:srgbClr val="DA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DF-31BJ en silo : plus importante composante en silo de l'arsenal, rupture avec la dépendance historique aux lanceurs mobiles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Capacités militaires de la RPC — Synthèse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000232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industrielle et technologique de défense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modèle centralisé autour de conglomérats publics sous tutelle de la SASAC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2704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NORINCO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Systèmes terrestres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16712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Blindés, artillerie, missiles antichars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34840" y="141732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152704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17720" y="1874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navale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17720" y="216712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Porte-avions, destroyers, sous-marins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321040" y="141732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03920" y="152704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AVIC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03920" y="1874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Aéronautique militaire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03920" y="216712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Chasseurs, transport, hélicoptères, drones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12724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Missiles stratégiques &amp; espace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76732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Famille DF, SLBM, satellites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34840" y="301752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17720" y="312724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CASIC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17720" y="3474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Missiles tactiques &amp; DCA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17720" y="376732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 (SAM), SRBM, antinavires côtiers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321040" y="301752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503920" y="312724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CETC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03920" y="3474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Électronique de défense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03920" y="376732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Radars, guerre électronique, C4ISR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Capacités militaires de la RPC — Synthèse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00232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 militaro-civile : moteur structurel et limites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86400" cy="3931920"/>
          </a:xfrm>
          <a:prstGeom prst="roundRect">
            <a:avLst>
              <a:gd name="adj" fmla="val 1860"/>
            </a:avLst>
          </a:prstGeom>
          <a:solidFill>
            <a:srgbClr val="1B1F27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45920"/>
            <a:ext cx="594360" cy="594360"/>
          </a:xfrm>
          <a:prstGeom prst="ellipse">
            <a:avLst/>
          </a:prstGeom>
          <a:solidFill>
            <a:srgbClr val="9E1B3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507" y="1723187"/>
            <a:ext cx="439826" cy="43982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69164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flux inverse par rapport au modèle occidental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3774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A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nationale depuis 2015 (军民融合发展战略) : au lieu du "spin-off" militaire vers le civil, la Chine capte les avancées du secteur privé (IA, semi-conducteurs, drones commerciaux, batteries) au bénéfice de la BITD, par incitation réglementaire et financière.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384048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 RH : la conscription cible désormais en priorité les diplômés du supérieur, spécialisés en cyber et spatial.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41732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BEAEA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1645920"/>
            <a:ext cx="594360" cy="594360"/>
          </a:xfrm>
          <a:prstGeom prst="ellipse">
            <a:avLst/>
          </a:prstGeom>
          <a:solidFill>
            <a:srgbClr val="9E1B3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507" y="1723187"/>
            <a:ext cx="439826" cy="4398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69164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documentées (Devil's Advocacy)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92240" y="233172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 de « questions sur la qualité et la fiabilité » de l'équipement produit (IISS)</a:t>
            </a:r>
            <a:endParaRPr lang="en-US" sz="115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Enquêtes anti-corruption répétées 2024-2025, notamment liées aux programmes d'acquisition de la Force des Roquettes</a:t>
            </a:r>
            <a:endParaRPr lang="en-US" sz="115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capacité de production de masse ne garantit pas la supériorité qualitative systématique</a:t>
            </a:r>
            <a:endParaRPr lang="en-US" sz="115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d'expérience de combat récente de l'APL — l'efficacité de l'intégration reste non testée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Capacités militaires de la RPC — Synthèse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000232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F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23293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681" y="603961"/>
            <a:ext cx="575158" cy="5751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48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Taïwan : le scénario dimensionnant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508760" y="10515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Distinction cruciale à maintenir : capacité de disponibilité (2027) ≠ décision d'emploi de la force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486400" cy="3566160"/>
          </a:xfrm>
          <a:prstGeom prst="roundRect">
            <a:avLst>
              <a:gd name="adj" fmla="val 2051"/>
            </a:avLst>
          </a:prstGeom>
          <a:solidFill>
            <a:srgbClr val="232935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783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matériels cohérents avec le scénario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14884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50" dirty="0">
                <a:solidFill>
                  <a:srgbClr val="DA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de brigades amphibies et de chars légers (ZTD-05) dans les Théâtres Est et Sud</a:t>
            </a:r>
            <a:endParaRPr lang="en-US" sz="11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50" dirty="0">
                <a:solidFill>
                  <a:srgbClr val="DA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continue des LHD Type-075 et LPD Type-071</a:t>
            </a:r>
            <a:endParaRPr lang="en-US" sz="11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50" dirty="0">
                <a:solidFill>
                  <a:srgbClr val="DA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élevé de SRBM (DF-11A, DF-15B, DF-16) dédiés à la saturation des défenses taïwanaises</a:t>
            </a:r>
            <a:endParaRPr lang="en-US" sz="11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50" dirty="0">
                <a:solidFill>
                  <a:srgbClr val="DA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Intensification des activités navales/aériennes autour de Taïwan tout au long de 2025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9E1B32"/>
          </a:solidFill>
          <a:ln/>
        </p:spPr>
      </p:sp>
      <p:sp>
        <p:nvSpPr>
          <p:cNvPr id="10" name="Text 7"/>
          <p:cNvSpPr/>
          <p:nvPr/>
        </p:nvSpPr>
        <p:spPr>
          <a:xfrm>
            <a:off x="6492240" y="17830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&amp; alerte précoce (I&amp;W)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92240" y="21488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Ruptures à surveiller : mobilisation civile massive (ferries), constitution de stocks de munitions hors standards d'entraînement, restrictions inhabituelles de navigation, rupture du canal diplomatique/militaire.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92240" y="3657600"/>
            <a:ext cx="4937760" cy="18288"/>
          </a:xfrm>
          <a:prstGeom prst="rect">
            <a:avLst/>
          </a:prstGeom>
          <a:solidFill>
            <a:srgbClr val="C96E7E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384048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Appréciation actuelle : aucun indicateur de rupture documenté à ce jour — préparation capacitaire de long terme, non préparation opérationnelle imminente.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Capacités militaires de la RPC — Synthèse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000232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Doctrine A2/AD et stratégie de « zone grise »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864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1B1F2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" y="1717243"/>
            <a:ext cx="405994" cy="4059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7373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Anti-accès / déni de zone (A2/AD)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24028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en couches : missiles antinavires (YJ-18, DF-21D « carrier killer », DF-26 « tueur de Guam »), défense aérienne dense (HQ-9B, HQ-22, S-400), flotte sous-marine nombreuse. Évolution progressive vers une « far seas defense » étendue au-delà de la 2ᵉ chaîne d'îles (porte-avions, Y-20, Djibouti), sans abandon du socle historique.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63640" y="141732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92240" y="1645920"/>
            <a:ext cx="548640" cy="548640"/>
          </a:xfrm>
          <a:prstGeom prst="ellipse">
            <a:avLst/>
          </a:prstGeom>
          <a:solidFill>
            <a:srgbClr val="9E1B3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563" y="1717243"/>
            <a:ext cx="405994" cy="40599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23760" y="17373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Coercition sous le seuil (« zone grise »)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492240" y="22402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à trois niveaux permettant une escalade/désescalade graduée, difficile à contrer par des moyens strictement militaires :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92240" y="2926080"/>
            <a:ext cx="73152" cy="5029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0"/>
          <p:cNvSpPr/>
          <p:nvPr/>
        </p:nvSpPr>
        <p:spPr>
          <a:xfrm>
            <a:off x="6693408" y="288036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Marine (PLAN)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— dissuasion de fond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92240" y="3584448"/>
            <a:ext cx="73152" cy="5029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6" name="Text 12"/>
          <p:cNvSpPr/>
          <p:nvPr/>
        </p:nvSpPr>
        <p:spPr>
          <a:xfrm>
            <a:off x="6693408" y="3538728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Garde-côtière (686 navires)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— coercition visible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92240" y="4242816"/>
            <a:ext cx="73152" cy="5029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8" name="Text 14"/>
          <p:cNvSpPr/>
          <p:nvPr/>
        </p:nvSpPr>
        <p:spPr>
          <a:xfrm>
            <a:off x="6693408" y="4197096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Milice maritime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 — présence civile mobilisée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Capacités militaires de la RPC — Synthèse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000232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Rayonnement international — exportation d'armement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4ᵉ exportateur mondial d'armement, instrument de diplomatie économique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1B1F2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361188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Pakistan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 le plus intégré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31546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J-10C commandés (20 livrés, mai 2025) ; 4 frégates Type-054A/P ; co-production JF-17. Premier emploi au combat de chasse chinoise (opération « Sindoor », mai 2025).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1B1F27"/>
          </a:solidFill>
          <a:ln/>
        </p:spPr>
      </p:sp>
      <p:sp>
        <p:nvSpPr>
          <p:cNvPr id="10" name="Shape 8"/>
          <p:cNvSpPr/>
          <p:nvPr/>
        </p:nvSpPr>
        <p:spPr>
          <a:xfrm>
            <a:off x="4297680" y="1463040"/>
            <a:ext cx="361188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6916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MENA / Afrique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26280" y="21031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de drones armés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26280" y="2606040"/>
            <a:ext cx="31546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Wing Loong, CH-4/CH-5 exportés vers l'Algérie, l'Égypte, l'Irak, le Maroc, les EAU et d'autres — alternative moins coûteuse au MQ-9 Reaper.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46304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1B1F27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0" y="1463040"/>
            <a:ext cx="361188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6916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Thaïlande / Indonésie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75320" y="21031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naval, entre succès et retards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75320" y="2606040"/>
            <a:ext cx="31546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Sous-marin S26T thaïlandais retardé 7 ans (embargo moteur allemand), accord révisé en 2025 (moteur chinois, livraison 2028) ; offre comparable proposée à l'Indonésie.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Capacités militaires de la RPC — Synthèse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00232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Rayonnement international — présence directe et diplomatie multilatérale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783080"/>
            <a:ext cx="685800" cy="685800"/>
          </a:xfrm>
          <a:prstGeom prst="ellipse">
            <a:avLst/>
          </a:prstGeom>
          <a:solidFill>
            <a:srgbClr val="9E1B3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394" y="1872234"/>
            <a:ext cx="507492" cy="5074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6060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Djibouti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3017520"/>
            <a:ext cx="3154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base militaire chinoise formelle à l'étranger (ouverte 2017). ~400 personnels, soutien aux déploiements dans l'océan Indien et le golfe d'Aden.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297680" y="155448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26280" y="1783080"/>
            <a:ext cx="685800" cy="685800"/>
          </a:xfrm>
          <a:prstGeom prst="ellipse">
            <a:avLst/>
          </a:prstGeom>
          <a:solidFill>
            <a:srgbClr val="9E1B3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434" y="1872234"/>
            <a:ext cx="507492" cy="5074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26280" y="26060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Ream (Cambodge)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26280" y="3017520"/>
            <a:ext cx="3154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Présence navale permanente identifiée par l'IISS : 2 corvettes FSGM, 120 personnels — point d'appui avancé en Asie du Sud-Est.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046720" y="155448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75320" y="1783080"/>
            <a:ext cx="685800" cy="685800"/>
          </a:xfrm>
          <a:prstGeom prst="ellipse">
            <a:avLst/>
          </a:prstGeom>
          <a:solidFill>
            <a:srgbClr val="9E1B3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474" y="1872234"/>
            <a:ext cx="507492" cy="5074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75320" y="26060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Maintien de la paix ONU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275320" y="3017520"/>
            <a:ext cx="3154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~1 850 personnels déployés cumulativement (RD Congo, Liban, Soudan du Sud, Soudan, Sahara occidental, Centrafrique) — 1ᵉʳ contributeur de troupes parmi les membres permanents du Conseil de sécurité.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Capacités militaires de la RPC — Synthèse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000232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F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657600"/>
            <a:ext cx="7315200" cy="7315200"/>
          </a:xfrm>
          <a:prstGeom prst="ellipse">
            <a:avLst/>
          </a:prstGeom>
          <a:solidFill>
            <a:srgbClr val="23293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23293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681" y="558241"/>
            <a:ext cx="575158" cy="5751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Synthèse et implications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50876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Jugements clés — niveau de confiance modéré à élevé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164592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E7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modernisation chinoise est qualitative et doctrinale, structurée autour de trois échéances (2027, 2035, 2049)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E7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= jalon de capacité, pas date de déclenchement — la distinction capacité/intention doit être maintenue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E7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BITD, structurée autour de 6 conglomérats SASAC, permet une production de série inégalée en Occident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E7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indicateur de rupture (I&amp;W) n'est documenté à ce jour concernant Taïwan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E7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rayonnement international sert une diversification des partenariats, non une alliance formelle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4160520"/>
            <a:ext cx="11091672" cy="18288"/>
          </a:xfrm>
          <a:prstGeom prst="rect">
            <a:avLst/>
          </a:prstGeom>
          <a:solidFill>
            <a:srgbClr val="3A4150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3434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de vigilance à surveiller dans le temps 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470916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 d'un groupe aérien intégré sur le Fujian  •  Évolution du nombre de silos ICBM actifs  •  Indicateurs de rupture autour de Taïwan  •  Matérialisation de l'offre d'export du J-35 au Pakistan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60350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à lire en complément du classeur Excel (recensement capacitaire détaillé) et de la note de renseignement complète (analyse développée).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Capacités militaires de la RPC — Synthèse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000232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Capacités militaires de la République populaire de Chine</dc:title>
  <dc:subject>PptxGenJS Presentation</dc:subject>
  <dc:creator>Analyse RENS MIL</dc:creator>
  <cp:lastModifiedBy>Analyse RENS MIL</cp:lastModifiedBy>
  <cp:revision>1</cp:revision>
  <dcterms:created xsi:type="dcterms:W3CDTF">2026-07-09T08:01:42Z</dcterms:created>
  <dcterms:modified xsi:type="dcterms:W3CDTF">2026-07-09T08:01:42Z</dcterms:modified>
</cp:coreProperties>
</file>